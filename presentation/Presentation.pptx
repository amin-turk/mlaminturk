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6A3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Retained (0)</c:v>
                  </c:pt>
                  <c:pt idx="1">
                    <c:v>Churned (1)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2334</c:v>
                </c:pt>
                <c:pt idx="1">
                  <c:v>1163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Variance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18</c:v>
                </c:pt>
                <c:pt idx="1">
                  <c:v>30</c:v>
                </c:pt>
                <c:pt idx="2">
                  <c:v>40</c:v>
                </c:pt>
                <c:pt idx="3">
                  <c:v>49</c:v>
                </c:pt>
                <c:pt idx="4">
                  <c:v>56</c:v>
                </c:pt>
                <c:pt idx="5">
                  <c:v>62</c:v>
                </c:pt>
                <c:pt idx="6">
                  <c:v>67</c:v>
                </c:pt>
                <c:pt idx="7">
                  <c:v>71</c:v>
                </c:pt>
                <c:pt idx="8">
                  <c:v>75</c:v>
                </c:pt>
                <c:pt idx="9">
                  <c:v>78</c:v>
                </c:pt>
                <c:pt idx="10">
                  <c:v>81</c:v>
                </c:pt>
                <c:pt idx="11">
                  <c:v>83</c:v>
                </c:pt>
                <c:pt idx="12">
                  <c:v>85</c:v>
                </c:pt>
                <c:pt idx="13">
                  <c:v>87</c:v>
                </c:pt>
                <c:pt idx="14">
                  <c:v>89</c:v>
                </c:pt>
                <c:pt idx="15">
                  <c:v>90</c:v>
                </c:pt>
                <c:pt idx="16">
                  <c:v>92</c:v>
                </c:pt>
                <c:pt idx="17">
                  <c:v>93</c:v>
                </c:pt>
                <c:pt idx="18">
                  <c:v>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Confusion Matrix Values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Retained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Retained</c:v>
                  </c:pt>
                  <c:pt idx="1">
                    <c:v>Churned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572</c:v>
                </c:pt>
                <c:pt idx="1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Retained</c:v>
                  </c:pt>
                  <c:pt idx="1">
                    <c:v>Churned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12</c:v>
                </c:pt>
                <c:pt idx="1">
                  <c:v>273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Top 10 Features by Importance (RandomForest)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ProductDiversity</c:v>
                  </c:pt>
                  <c:pt idx="1">
                    <c:v>UniqueProducts</c:v>
                  </c:pt>
                  <c:pt idx="2">
                    <c:v>FirstPurchaseDaysAgo</c:v>
                  </c:pt>
                  <c:pt idx="3">
                    <c:v>Frequency</c:v>
                  </c:pt>
                  <c:pt idx="4">
                    <c:v>NegQtyCount</c:v>
                  </c:pt>
                  <c:pt idx="5">
                    <c:v>MonetaryTotal</c:v>
                  </c:pt>
                  <c:pt idx="6">
                    <c:v>WeekendPreference</c:v>
                  </c:pt>
                  <c:pt idx="7">
                    <c:v>ReturnRatio</c:v>
                  </c:pt>
                  <c:pt idx="8">
                    <c:v>RegYear</c:v>
                  </c:pt>
                  <c:pt idx="9">
                    <c:v>SpendPerDay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0.3</c:v>
                </c:pt>
                <c:pt idx="1">
                  <c:v>0.26</c:v>
                </c:pt>
                <c:pt idx="2">
                  <c:v>0.22</c:v>
                </c:pt>
                <c:pt idx="3">
                  <c:v>0.22</c:v>
                </c:pt>
                <c:pt idx="4">
                  <c:v>0.13</c:v>
                </c:pt>
                <c:pt idx="5">
                  <c:v>0.12</c:v>
                </c:pt>
                <c:pt idx="6">
                  <c:v>0.1</c:v>
                </c:pt>
                <c:pt idx="7">
                  <c:v>0.09</c:v>
                </c:pt>
                <c:pt idx="8">
                  <c:v>0.08</c:v>
                </c:pt>
                <c:pt idx="9">
                  <c:v>0.07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Pipeline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370332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Workshop  |  E-Commerce Retail Dataset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114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612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612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 &amp; 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764792"/>
            <a:ext cx="4114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74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18745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78024"/>
            <a:ext cx="4114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877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25877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191256"/>
            <a:ext cx="4114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0098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33009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904488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04488"/>
            <a:ext cx="4114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1421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014216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1051560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51560"/>
            <a:ext cx="4114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11612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49240" y="116128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— Clustering &amp; Classification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764792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1764792"/>
            <a:ext cx="4114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87452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49240" y="18745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Evaluation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46320" y="2478024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478024"/>
            <a:ext cx="4114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5877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49240" y="2587752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Deployment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3191256"/>
            <a:ext cx="40233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3191256"/>
            <a:ext cx="411480" cy="5669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46320" y="330098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49240" y="3300984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data scientists at an e-commerce gift company. The business needs to: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08760"/>
            <a:ext cx="64008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Churn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customers at risk of leaving before they 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08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08760"/>
            <a:ext cx="64008" cy="1371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Marketing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920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customers to tailor campaigns and offers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0876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508760"/>
            <a:ext cx="64008" cy="13716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1600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Revenue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63640" y="19202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retention budget where it has the most impact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14630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20040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 Build a complete ML pipeline — from raw data to a live web application — covering preprocessing, clustering, classification, and deployment.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4,372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(1)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29400" y="10515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08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240280"/>
          <a:ext cx="8229600" cy="2560320"/>
        </p:xfrm>
        <a:graphic>
          <a:graphicData uri="http://schemas.openxmlformats.org/drawingml/2006/table">
            <a:tbl>
              <a:tblPr/>
              <a:tblGrid>
                <a:gridCol w="2011680"/>
                <a:gridCol w="4663440"/>
                <a:gridCol w="155448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RFM Metrics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Recency, Frequency, MonetaryTotal, MonetaryAvg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TotalQuantity, UniqueProducts, ReturnRatio, CancelledTrans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Behavioural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PreferredDay, PreferredHour, WeekendRatio, FavoriteSeason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Info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Gender, Region, Country, AccountStatus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Derived/Other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ChurnRisk, LoyaltyLevel, RFMSegment, RegistrationDate, LastLoginIP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10+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was intentionally imperfect — we had to identify and fix the following: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1097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Age: 30% missing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SupportTickets, Satisfaction: 5–8% missing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41732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417320"/>
            <a:ext cx="64008" cy="10972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508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/ Aberrant Values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SupportTickets had value 999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had value -1 and 99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65176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Formats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30632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RegistrationDate in multiple formats: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'12/03/10' vs '2010-03-12'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265176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651760"/>
            <a:ext cx="64008" cy="10972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Useless Features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06324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NewsletterSubscribed: 100% constant (Yes only)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same value → zero information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8862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886200"/>
            <a:ext cx="64008" cy="109728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977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Features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297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LastLoginIP: raw IP address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feature extraction → IsPrivateIP, IPVersion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886200"/>
            <a:ext cx="411480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88620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977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37760" y="4297680"/>
            <a:ext cx="3931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Churn: ~33% churned vs 67% retained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AccountStatus: unbalanced categories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41148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07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389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4,372 rows × 52 cols from data/raw/retail.csv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41148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207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3898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ratios, date parsing, IP parsing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993392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1993392"/>
            <a:ext cx="41148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0391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Leakage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2377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13 columns that directly reveal Churn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993392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1993392"/>
            <a:ext cx="41148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219456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03520" y="20391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Low-Info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237744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Zero-variance columns, &gt;50% missing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980944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980944"/>
            <a:ext cx="41148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1821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0266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60120" y="3364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— 3,497 train / 875 test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980944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980944"/>
            <a:ext cx="41148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1821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03520" y="30266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33649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on numerics, mode on categoricals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968496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3968496"/>
            <a:ext cx="41148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1696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0120" y="40142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60120" y="43525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collinear features (|r| &gt; 0.85)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968496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00600" y="3968496"/>
            <a:ext cx="411480" cy="822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1696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03520" y="401421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+ PCA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03520" y="435254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→ 19 PCA components (95% var)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Anti-Leakage Strategy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= using information that wouldn't be available at prediction time.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Columns (13 total)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ChurnRisk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AccountStatus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CustomerType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RFMSegment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SupportTickets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LoyaltyLevel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SpendingCat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FavoriteSeason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CustomerTenureDays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PreferredMonth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Each Was Removed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92040" y="19202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ChurnRisk / RFMSegment — derived directly from Churn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AccountStatus — closed accounts = churned customers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/ SupportTickets — post-churn signals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— identifier, no predictive value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— strongly correlated (0.55+)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FavoriteSeason / PreferredMonth — suspicious correlation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CustomerTenureDays — duplicate of CustomerTenure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SpendPerDay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2648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MonetaryTotal / (Recency + 1)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" y="1691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 customer spends per active day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64008" cy="1188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0789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BasketAvg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56048" y="14173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MonetaryTotal / Frequency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56048" y="16916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spend per order — proxy for basket size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31720"/>
            <a:ext cx="64008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404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RecencyRatio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" y="2743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Recency / CustomerTenure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" y="3017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recently active relative to total tenure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233172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31720"/>
            <a:ext cx="64008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4048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RegYear / RegMonth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RegDay / RegWeekday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56048" y="27432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from RegistrationDate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56048" y="30175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temporal patterns from registration date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57600"/>
            <a:ext cx="64008" cy="11887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3730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PrivateIP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2648" y="4069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on LastLoginIP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2648" y="4343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client connects from a private network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65760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3657600"/>
            <a:ext cx="64008" cy="11887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730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56048" y="4069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on LastLoginIP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56048" y="4343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vs IPv6 — potential device/location signal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 &amp; Imputation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3,497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Samples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Samples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Ratio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29400" y="10515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08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Features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4028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Strategy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274320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Imputer (k=5) on 34 numerical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Imputer on 8 categorical features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only on X_train — transform applied to both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data leakage from test set statistics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240280"/>
            <a:ext cx="41148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Distribution (Train)</a:t>
            </a:r>
            <a:endParaRPr lang="en-US" sz="13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754880" y="2743200"/>
          <a:ext cx="41148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&amp; PCA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Removal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|r| &gt; 0.85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highly correlated pairs detected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features dropped:</a:t>
            </a:r>
            <a:endParaRPr lang="en-US" sz="1100" dirty="0"/>
          </a:p>
          <a:p>
            <a:pPr lvl="1" marL="6858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MonetaryMin, MonetaryMax</a:t>
            </a:r>
            <a:endParaRPr lang="en-US" sz="1100" dirty="0"/>
          </a:p>
          <a:p>
            <a:pPr lvl="1" marL="6858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TotalQuantity, MinQuantity, MaxQuantity</a:t>
            </a:r>
            <a:endParaRPr lang="en-US" sz="1100" dirty="0"/>
          </a:p>
          <a:p>
            <a:pPr lvl="1" marL="6858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UniqueDescriptions, CancelledTransactions</a:t>
            </a:r>
            <a:endParaRPr lang="en-US" sz="1100" dirty="0"/>
          </a:p>
          <a:p>
            <a:pPr lvl="1" marL="6858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TotalTransactions, UniqueInvoices, AvgLinesPerInvoice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— Dimensionality Reduction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754880" y="150876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4892040" y="4160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components → 95% variance retained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Encoding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categorical columns required encoding before modeling: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3383280"/>
        </p:xfrm>
        <a:graphic>
          <a:graphicData uri="http://schemas.openxmlformats.org/drawingml/2006/table">
            <a:tbl>
              <a:tblPr/>
              <a:tblGrid>
                <a:gridCol w="2011680"/>
                <a:gridCol w="1371600"/>
                <a:gridCol w="1645920"/>
                <a:gridCol w="3200400"/>
              </a:tblGrid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order: 18-24 &lt; 25-34 &lt; ...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BasketSizeCategory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order: Small &lt; Medium &lt; Large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PreferredTimeOfDay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order: Morning → Night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ProductDiversity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Specialized &lt; Moderate &lt; Explorer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WeekendPreference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OrdinalEncoder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Ordered preference categories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OneHotEncoder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natural order between M/F/Unknown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OneHotEncoder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natural order between regions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5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OneHotEncoder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37+ countries, no order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81 encoded columns  |  Encoder saved → models/encoder.pkl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KMeans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n_init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29400" y="10515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08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random_state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286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286000"/>
            <a:ext cx="64008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2697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buyers, high spend, recent activity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28600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286000"/>
            <a:ext cx="64008" cy="11430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3774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697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customers with good retention potential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611880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4023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but purchases not yet consistent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61188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611880"/>
            <a:ext cx="64008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703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Dormant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4023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customers — high risk of permanent departure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— RandomForest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 (GridSearchCV)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3840480" cy="301752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822960"/>
              </a:tblGrid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 Tested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100, 200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6, 10, 15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5, 10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min_samples_leaf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class_weight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(folds)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5-fold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754880" y="1005840"/>
            <a:ext cx="41148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89204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RandomForest?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892040" y="1508760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feature types well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 and noise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 importance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class_weight='balanced' handles class imbalance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reduces overfitting vs single tree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inference — suitable for web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96.6%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10515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94.8%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10515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96.1%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634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29400" y="1051560"/>
            <a:ext cx="19202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1247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2084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57200" y="2240280"/>
          <a:ext cx="411480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4754880" y="2240280"/>
            <a:ext cx="41148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9204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2743200"/>
          <a:ext cx="3840480" cy="2011680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822960"/>
                <a:gridCol w="6400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Retained (0)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Churned 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 Importances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023360" cy="384048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3840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projet_ml_retail/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data/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raw/          ← retail.csv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processed/    ← PCA outputs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train_test/   ← splits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utils.py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preprocessing.py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train_model.py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predict.py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app.py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templates/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predict.html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models/           ← .pkl files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reports/          ← plots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requirements.txt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1005840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1005840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0515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00600" y="1325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helpers: load, save, impute, encode, PCA, correlation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773936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773936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819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209397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feature eng → split → impute → scale → PCA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2542032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2542032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587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train_model.py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862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+ RandomForest training + GridSearchCV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3310128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3310128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3558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6301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Single-client prediction utility called by Flask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4078224"/>
            <a:ext cx="4206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4078224"/>
            <a:ext cx="64008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41239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43982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server — form input → prediction → result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Deployment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14300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—  Run Preprocessing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" y="1481328"/>
            <a:ext cx="374904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179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src/preprocessing.py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005840"/>
            <a:ext cx="64008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10972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—  Train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956048" y="1481328"/>
            <a:ext cx="374904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5179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src/train_model.py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77440"/>
            <a:ext cx="64008" cy="11430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—  Launch App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" y="2852928"/>
            <a:ext cx="374904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8895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app/app.py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377440"/>
            <a:ext cx="41148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00600" y="2377440"/>
            <a:ext cx="64008" cy="1143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—  Open Browser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56048" y="2852928"/>
            <a:ext cx="3749040" cy="5029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8895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http://127.0.0.1:5000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8229600" cy="9144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loaded at startup  |  Form input → prepare_single() → RF predict → result rendered in predict.html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Artifacts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and transformers are serialized to disk with joblib: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64008" cy="59436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2704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scaler.pkl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46120" y="15270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3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0" y="152704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numerical features at inference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30552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30552"/>
            <a:ext cx="64008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40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encoder.pkl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2402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0640" y="22402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Encodes categorical columns consistently across train/test/prod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43784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43784"/>
            <a:ext cx="64008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9535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pca_model.pkl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2953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(19 components)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29535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dimensionality — not used in final RF pipeline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57016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557016"/>
            <a:ext cx="64008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kmeans_model.pkl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66674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(k=4)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366674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— assigns cluster at inference time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27024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270248"/>
            <a:ext cx="64008" cy="59436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37997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F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randomforest_churn.pkl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43799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RandomForestClassifier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20640" y="43799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churn prediction model loaded by Flask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 Learned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09728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Detection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features appeared useful but were derived from Churn itself (e.g. ChurnRisk, AccountStatus=Closed). Removing them is critical for honest evaluation.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0058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05840"/>
            <a:ext cx="64008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Parsing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RegistrationDate came in multiple formats. Robust parsing with dayfirst=True and errors='coerce' was needed to avoid silent failures.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77440"/>
            <a:ext cx="64008" cy="1188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7889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52 features, we reduced to 32 after removing leaky, constant, and collinear features — quality beats quantity.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23774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377440"/>
            <a:ext cx="64008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24688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Structure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7889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scripts from the wrong directory causes ModuleNotFoundError. Using python -m src.module from the root avoids this.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749040"/>
            <a:ext cx="64008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40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Persistence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41605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ColumnTransformer must be saved and reloaded identically in Flask — any inconsistency causes silent prediction errors.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374904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749040"/>
            <a:ext cx="64008" cy="118872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840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41605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~33% churn rate is manageable with class_weight='balanced'. For more severe imbalance, SMOTE would be the next step.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2331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4,372 customers processed, 52 → 32 features after cleaning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96.6% accuracy / F1 0.948 on held-out test set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score of 0.953 for 4-cluster segmentation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Flask app running end-to-end predictions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331720"/>
          </a:xfrm>
          <a:prstGeom prst="rect">
            <a:avLst/>
          </a:prstGeom>
          <a:solidFill>
            <a:srgbClr val="1E3A6E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508760"/>
            <a:ext cx="3657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for more aggressive class balancing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monthly on fresh transaction data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SHAP explainability to the Flask interface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regression — predict customer lifetime value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Churn Analysis — ML Workshop</dc:title>
  <dc:subject>PptxGenJS Presentation</dc:subject>
  <dc:creator>PptxGenJS</dc:creator>
  <cp:lastModifiedBy>PptxGenJS</cp:lastModifiedBy>
  <cp:revision>1</cp:revision>
  <dcterms:created xsi:type="dcterms:W3CDTF">2026-05-24T11:19:08Z</dcterms:created>
  <dcterms:modified xsi:type="dcterms:W3CDTF">2026-05-24T11:19:08Z</dcterms:modified>
</cp:coreProperties>
</file>